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K Grotesk Light" charset="1" panose="00000400000000000000"/>
      <p:regular r:id="rId18"/>
    </p:embeddedFont>
    <p:embeddedFont>
      <p:font typeface="HK Grotesk Bold" charset="1" panose="00000800000000000000"/>
      <p:regular r:id="rId19"/>
    </p:embeddedFont>
    <p:embeddedFont>
      <p:font typeface="HK Grotesk Medium" charset="1" panose="00000600000000000000"/>
      <p:regular r:id="rId20"/>
    </p:embeddedFont>
    <p:embeddedFont>
      <p:font typeface="HK Grotesk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48000">
            <a:off x="-1138832" y="-4724982"/>
            <a:ext cx="20565663" cy="19736964"/>
          </a:xfrm>
          <a:custGeom>
            <a:avLst/>
            <a:gdLst/>
            <a:ahLst/>
            <a:cxnLst/>
            <a:rect r="r" b="b" t="t" l="l"/>
            <a:pathLst>
              <a:path h="19736964" w="20565663">
                <a:moveTo>
                  <a:pt x="0" y="11949756"/>
                </a:moveTo>
                <a:lnTo>
                  <a:pt x="13843926" y="0"/>
                </a:lnTo>
                <a:lnTo>
                  <a:pt x="20565664" y="7787208"/>
                </a:lnTo>
                <a:lnTo>
                  <a:pt x="6721738" y="19736964"/>
                </a:lnTo>
                <a:lnTo>
                  <a:pt x="0" y="11949756"/>
                </a:lnTo>
                <a:close/>
              </a:path>
            </a:pathLst>
          </a:custGeom>
          <a:blipFill>
            <a:blip r:embed="rId2"/>
            <a:stretch>
              <a:fillRect l="-23594" t="-59476" r="-294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0605" y="3453043"/>
            <a:ext cx="11301259" cy="1963594"/>
          </a:xfrm>
          <a:custGeom>
            <a:avLst/>
            <a:gdLst/>
            <a:ahLst/>
            <a:cxnLst/>
            <a:rect r="r" b="b" t="t" l="l"/>
            <a:pathLst>
              <a:path h="1963594" w="11301259">
                <a:moveTo>
                  <a:pt x="0" y="0"/>
                </a:moveTo>
                <a:lnTo>
                  <a:pt x="11301259" y="0"/>
                </a:lnTo>
                <a:lnTo>
                  <a:pt x="11301259" y="1963594"/>
                </a:lnTo>
                <a:lnTo>
                  <a:pt x="0" y="1963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0605" y="5770048"/>
            <a:ext cx="703783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Empowering on-chain data with NLP.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49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9144000" y="0"/>
                </a:moveTo>
                <a:lnTo>
                  <a:pt x="0" y="0"/>
                </a:lnTo>
                <a:lnTo>
                  <a:pt x="0" y="10287000"/>
                </a:lnTo>
                <a:lnTo>
                  <a:pt x="9144000" y="10287000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2"/>
            <a:stretch>
              <a:fillRect l="-51159" t="-55561" r="-31696" b="-697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64490" y="1826036"/>
            <a:ext cx="3666998" cy="3666998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2107" t="0" r="-2210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879337" y="1493520"/>
            <a:ext cx="4178562" cy="417856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2107" t="0" r="-2210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205748" y="1826036"/>
            <a:ext cx="3666998" cy="366699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2107" t="0" r="-22107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0">
            <a:off x="10462516" y="9258300"/>
            <a:ext cx="6796784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439776" y="3006606"/>
            <a:ext cx="5131621" cy="175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Concept of Blockchain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9776" y="6730324"/>
            <a:ext cx="690109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trustless network for verifiable data and transactions.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62516" y="6281682"/>
            <a:ext cx="690109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Every event is recorded immutably across decentralized nodes.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62516" y="7736654"/>
            <a:ext cx="690109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Yet, accessing and interpreting this data remains complex.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44331" t="-22481" r="-734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23154" y="1737149"/>
            <a:ext cx="7359304" cy="6961081"/>
            <a:chOff x="0" y="0"/>
            <a:chExt cx="2286452" cy="2162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452" cy="2162729"/>
            </a:xfrm>
            <a:custGeom>
              <a:avLst/>
              <a:gdLst/>
              <a:ahLst/>
              <a:cxnLst/>
              <a:rect r="r" b="b" t="t" l="l"/>
              <a:pathLst>
                <a:path h="2162729" w="2286452">
                  <a:moveTo>
                    <a:pt x="2161992" y="2162729"/>
                  </a:moveTo>
                  <a:lnTo>
                    <a:pt x="124460" y="2162729"/>
                  </a:lnTo>
                  <a:cubicBezTo>
                    <a:pt x="55880" y="2162729"/>
                    <a:pt x="0" y="2106849"/>
                    <a:pt x="0" y="20382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61992" y="0"/>
                  </a:lnTo>
                  <a:cubicBezTo>
                    <a:pt x="2230572" y="0"/>
                    <a:pt x="2286452" y="55880"/>
                    <a:pt x="2286452" y="124460"/>
                  </a:cubicBezTo>
                  <a:lnTo>
                    <a:pt x="2286452" y="2038269"/>
                  </a:lnTo>
                  <a:cubicBezTo>
                    <a:pt x="2286452" y="2106849"/>
                    <a:pt x="2230572" y="2162729"/>
                    <a:pt x="2161992" y="2162729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433531" y="6036458"/>
            <a:ext cx="1418727" cy="1475098"/>
            <a:chOff x="0" y="0"/>
            <a:chExt cx="660400" cy="686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86640"/>
            </a:xfrm>
            <a:custGeom>
              <a:avLst/>
              <a:gdLst/>
              <a:ahLst/>
              <a:cxnLst/>
              <a:rect r="r" b="b" t="t" l="l"/>
              <a:pathLst>
                <a:path h="686640" w="660400">
                  <a:moveTo>
                    <a:pt x="535940" y="686640"/>
                  </a:moveTo>
                  <a:lnTo>
                    <a:pt x="124460" y="686640"/>
                  </a:lnTo>
                  <a:cubicBezTo>
                    <a:pt x="55880" y="686640"/>
                    <a:pt x="0" y="630760"/>
                    <a:pt x="0" y="5621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5940" y="0"/>
                  </a:lnTo>
                  <a:cubicBezTo>
                    <a:pt x="604520" y="0"/>
                    <a:pt x="660400" y="55880"/>
                    <a:pt x="660400" y="124460"/>
                  </a:cubicBezTo>
                  <a:lnTo>
                    <a:pt x="660400" y="562180"/>
                  </a:lnTo>
                  <a:cubicBezTo>
                    <a:pt x="660400" y="630760"/>
                    <a:pt x="604520" y="686640"/>
                    <a:pt x="535940" y="686640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99352" y="6036458"/>
            <a:ext cx="1418727" cy="1475098"/>
            <a:chOff x="0" y="0"/>
            <a:chExt cx="660400" cy="686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686640"/>
            </a:xfrm>
            <a:custGeom>
              <a:avLst/>
              <a:gdLst/>
              <a:ahLst/>
              <a:cxnLst/>
              <a:rect r="r" b="b" t="t" l="l"/>
              <a:pathLst>
                <a:path h="686640" w="660400">
                  <a:moveTo>
                    <a:pt x="535940" y="686640"/>
                  </a:moveTo>
                  <a:lnTo>
                    <a:pt x="124460" y="686640"/>
                  </a:lnTo>
                  <a:cubicBezTo>
                    <a:pt x="55880" y="686640"/>
                    <a:pt x="0" y="630760"/>
                    <a:pt x="0" y="5621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5940" y="0"/>
                  </a:lnTo>
                  <a:cubicBezTo>
                    <a:pt x="604520" y="0"/>
                    <a:pt x="660400" y="55880"/>
                    <a:pt x="660400" y="124460"/>
                  </a:cubicBezTo>
                  <a:lnTo>
                    <a:pt x="660400" y="562180"/>
                  </a:lnTo>
                  <a:cubicBezTo>
                    <a:pt x="660400" y="630760"/>
                    <a:pt x="604520" y="686640"/>
                    <a:pt x="535940" y="686640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944752" y="6036458"/>
            <a:ext cx="1418727" cy="1475098"/>
            <a:chOff x="0" y="0"/>
            <a:chExt cx="660400" cy="686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" cy="686640"/>
            </a:xfrm>
            <a:custGeom>
              <a:avLst/>
              <a:gdLst/>
              <a:ahLst/>
              <a:cxnLst/>
              <a:rect r="r" b="b" t="t" l="l"/>
              <a:pathLst>
                <a:path h="686640" w="660400">
                  <a:moveTo>
                    <a:pt x="535940" y="686640"/>
                  </a:moveTo>
                  <a:lnTo>
                    <a:pt x="124460" y="686640"/>
                  </a:lnTo>
                  <a:cubicBezTo>
                    <a:pt x="55880" y="686640"/>
                    <a:pt x="0" y="630760"/>
                    <a:pt x="0" y="56218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35940" y="0"/>
                  </a:lnTo>
                  <a:cubicBezTo>
                    <a:pt x="604520" y="0"/>
                    <a:pt x="660400" y="55880"/>
                    <a:pt x="660400" y="124460"/>
                  </a:cubicBezTo>
                  <a:lnTo>
                    <a:pt x="660400" y="562180"/>
                  </a:lnTo>
                  <a:cubicBezTo>
                    <a:pt x="660400" y="630760"/>
                    <a:pt x="604520" y="686640"/>
                    <a:pt x="535940" y="686640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sp>
        <p:nvSpPr>
          <p:cNvPr name="AutoShape 11" id="11"/>
          <p:cNvSpPr/>
          <p:nvPr/>
        </p:nvSpPr>
        <p:spPr>
          <a:xfrm flipH="true">
            <a:off x="10433531" y="5669548"/>
            <a:ext cx="5922675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490358" y="6121470"/>
            <a:ext cx="1305073" cy="1305073"/>
          </a:xfrm>
          <a:custGeom>
            <a:avLst/>
            <a:gdLst/>
            <a:ahLst/>
            <a:cxnLst/>
            <a:rect r="r" b="b" t="t" l="l"/>
            <a:pathLst>
              <a:path h="1305073" w="1305073">
                <a:moveTo>
                  <a:pt x="0" y="0"/>
                </a:moveTo>
                <a:lnTo>
                  <a:pt x="1305073" y="0"/>
                </a:lnTo>
                <a:lnTo>
                  <a:pt x="1305073" y="1305074"/>
                </a:lnTo>
                <a:lnTo>
                  <a:pt x="0" y="1305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53745" y="6215412"/>
            <a:ext cx="1117190" cy="111719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3129370" y="6311822"/>
            <a:ext cx="565941" cy="924370"/>
          </a:xfrm>
          <a:custGeom>
            <a:avLst/>
            <a:gdLst/>
            <a:ahLst/>
            <a:cxnLst/>
            <a:rect r="r" b="b" t="t" l="l"/>
            <a:pathLst>
              <a:path h="924370" w="565941">
                <a:moveTo>
                  <a:pt x="0" y="0"/>
                </a:moveTo>
                <a:lnTo>
                  <a:pt x="565940" y="0"/>
                </a:lnTo>
                <a:lnTo>
                  <a:pt x="565940" y="924370"/>
                </a:lnTo>
                <a:lnTo>
                  <a:pt x="0" y="924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091940" y="6215412"/>
            <a:ext cx="1124351" cy="1124351"/>
          </a:xfrm>
          <a:custGeom>
            <a:avLst/>
            <a:gdLst/>
            <a:ahLst/>
            <a:cxnLst/>
            <a:rect r="r" b="b" t="t" l="l"/>
            <a:pathLst>
              <a:path h="1124351" w="1124351">
                <a:moveTo>
                  <a:pt x="0" y="0"/>
                </a:moveTo>
                <a:lnTo>
                  <a:pt x="1124351" y="0"/>
                </a:lnTo>
                <a:lnTo>
                  <a:pt x="1124351" y="1124351"/>
                </a:lnTo>
                <a:lnTo>
                  <a:pt x="0" y="1124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721203" y="7696012"/>
            <a:ext cx="1853019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5"/>
              </a:lnSpc>
            </a:pPr>
            <a:r>
              <a:rPr lang="en-US" b="true" sz="1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POLYGON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2831" y="7696012"/>
            <a:ext cx="1644471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5"/>
              </a:lnSpc>
            </a:pPr>
            <a:r>
              <a:rPr lang="en-US" b="true" sz="1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ETHEREUM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31389" y="7696012"/>
            <a:ext cx="1821269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5"/>
              </a:lnSpc>
            </a:pPr>
            <a:r>
              <a:rPr lang="en-US" b="true" sz="15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SOLANA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0804" y="2344807"/>
            <a:ext cx="5943071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Dozens of blockchains, fragmented data structures.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Developers rely on RPC providers and indexers.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Current tools lack an SDK-level standard for developers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82364" y="4067181"/>
            <a:ext cx="5131621" cy="175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Current Market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67223" t="-20277" r="-50521" b="-22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01842" y="2151892"/>
            <a:ext cx="8032068" cy="2140223"/>
            <a:chOff x="0" y="0"/>
            <a:chExt cx="3682960" cy="981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2960" cy="981361"/>
            </a:xfrm>
            <a:custGeom>
              <a:avLst/>
              <a:gdLst/>
              <a:ahLst/>
              <a:cxnLst/>
              <a:rect r="r" b="b" t="t" l="l"/>
              <a:pathLst>
                <a:path h="981361" w="3682960">
                  <a:moveTo>
                    <a:pt x="3558500" y="981360"/>
                  </a:moveTo>
                  <a:lnTo>
                    <a:pt x="124460" y="981360"/>
                  </a:lnTo>
                  <a:cubicBezTo>
                    <a:pt x="55880" y="981360"/>
                    <a:pt x="0" y="925481"/>
                    <a:pt x="0" y="8569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58500" y="0"/>
                  </a:lnTo>
                  <a:cubicBezTo>
                    <a:pt x="3627080" y="0"/>
                    <a:pt x="3682960" y="55880"/>
                    <a:pt x="3682960" y="124460"/>
                  </a:cubicBezTo>
                  <a:lnTo>
                    <a:pt x="3682960" y="856901"/>
                  </a:lnTo>
                  <a:cubicBezTo>
                    <a:pt x="3682960" y="925481"/>
                    <a:pt x="3627080" y="981361"/>
                    <a:pt x="3558500" y="981361"/>
                  </a:cubicBezTo>
                  <a:close/>
                </a:path>
              </a:pathLst>
            </a:custGeom>
            <a:solidFill>
              <a:srgbClr val="2D2E5F">
                <a:alpha val="86667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01842" y="4695915"/>
            <a:ext cx="8032068" cy="2124030"/>
            <a:chOff x="0" y="0"/>
            <a:chExt cx="3682960" cy="973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82960" cy="973936"/>
            </a:xfrm>
            <a:custGeom>
              <a:avLst/>
              <a:gdLst/>
              <a:ahLst/>
              <a:cxnLst/>
              <a:rect r="r" b="b" t="t" l="l"/>
              <a:pathLst>
                <a:path h="973936" w="3682960">
                  <a:moveTo>
                    <a:pt x="3558500" y="973936"/>
                  </a:moveTo>
                  <a:lnTo>
                    <a:pt x="124460" y="973936"/>
                  </a:lnTo>
                  <a:cubicBezTo>
                    <a:pt x="55880" y="973936"/>
                    <a:pt x="0" y="918056"/>
                    <a:pt x="0" y="84947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58500" y="0"/>
                  </a:lnTo>
                  <a:cubicBezTo>
                    <a:pt x="3627080" y="0"/>
                    <a:pt x="3682960" y="55880"/>
                    <a:pt x="3682960" y="124460"/>
                  </a:cubicBezTo>
                  <a:lnTo>
                    <a:pt x="3682960" y="849476"/>
                  </a:lnTo>
                  <a:cubicBezTo>
                    <a:pt x="3682960" y="918056"/>
                    <a:pt x="3627080" y="973936"/>
                    <a:pt x="3558500" y="973936"/>
                  </a:cubicBezTo>
                  <a:close/>
                </a:path>
              </a:pathLst>
            </a:custGeom>
            <a:solidFill>
              <a:srgbClr val="484995">
                <a:alpha val="86667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01842" y="7223746"/>
            <a:ext cx="8032068" cy="1885905"/>
            <a:chOff x="0" y="0"/>
            <a:chExt cx="3682960" cy="864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2960" cy="864748"/>
            </a:xfrm>
            <a:custGeom>
              <a:avLst/>
              <a:gdLst/>
              <a:ahLst/>
              <a:cxnLst/>
              <a:rect r="r" b="b" t="t" l="l"/>
              <a:pathLst>
                <a:path h="864748" w="3682960">
                  <a:moveTo>
                    <a:pt x="3558500" y="864748"/>
                  </a:moveTo>
                  <a:lnTo>
                    <a:pt x="124460" y="864748"/>
                  </a:lnTo>
                  <a:cubicBezTo>
                    <a:pt x="55880" y="864748"/>
                    <a:pt x="0" y="808868"/>
                    <a:pt x="0" y="74028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58500" y="0"/>
                  </a:lnTo>
                  <a:cubicBezTo>
                    <a:pt x="3627080" y="0"/>
                    <a:pt x="3682960" y="55880"/>
                    <a:pt x="3682960" y="124460"/>
                  </a:cubicBezTo>
                  <a:lnTo>
                    <a:pt x="3682960" y="740288"/>
                  </a:lnTo>
                  <a:cubicBezTo>
                    <a:pt x="3682960" y="808868"/>
                    <a:pt x="3627080" y="864748"/>
                    <a:pt x="3558500" y="864748"/>
                  </a:cubicBezTo>
                  <a:close/>
                </a:path>
              </a:pathLst>
            </a:custGeom>
            <a:solidFill>
              <a:srgbClr val="6968D4">
                <a:alpha val="86667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6231" y="2830682"/>
            <a:ext cx="851221" cy="851221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6231" y="5332319"/>
            <a:ext cx="851221" cy="851221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6231" y="7755216"/>
            <a:ext cx="851221" cy="851221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37319" y="4208145"/>
            <a:ext cx="6538912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85336" y="2861346"/>
            <a:ext cx="6930038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On-chain data is hard to query, standardize, and interpret.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1481" y="3070896"/>
            <a:ext cx="660721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71481" y="5572533"/>
            <a:ext cx="660721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71481" y="7995430"/>
            <a:ext cx="660721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85336" y="5362983"/>
            <a:ext cx="6148804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Developers waste time building custom parsers.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85336" y="7785880"/>
            <a:ext cx="6754594" cy="8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1"/>
              </a:lnSpc>
            </a:pPr>
            <a:r>
              <a:rPr lang="en-US" b="true" sz="27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There’s a gap between raw blockchain data and useful insights.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953" r="-25293" b="-27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4036" y="2256784"/>
            <a:ext cx="7189669" cy="8030216"/>
            <a:chOff x="0" y="0"/>
            <a:chExt cx="2760047" cy="3082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0048" cy="3082726"/>
            </a:xfrm>
            <a:custGeom>
              <a:avLst/>
              <a:gdLst/>
              <a:ahLst/>
              <a:cxnLst/>
              <a:rect r="r" b="b" t="t" l="l"/>
              <a:pathLst>
                <a:path h="3082726" w="2760048">
                  <a:moveTo>
                    <a:pt x="2635587" y="3082726"/>
                  </a:moveTo>
                  <a:lnTo>
                    <a:pt x="124460" y="3082726"/>
                  </a:lnTo>
                  <a:cubicBezTo>
                    <a:pt x="55880" y="3082726"/>
                    <a:pt x="0" y="3026846"/>
                    <a:pt x="0" y="295826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35588" y="0"/>
                  </a:lnTo>
                  <a:cubicBezTo>
                    <a:pt x="2704167" y="0"/>
                    <a:pt x="2760048" y="55880"/>
                    <a:pt x="2760048" y="124460"/>
                  </a:cubicBezTo>
                  <a:lnTo>
                    <a:pt x="2760048" y="2958266"/>
                  </a:lnTo>
                  <a:cubicBezTo>
                    <a:pt x="2760048" y="3026846"/>
                    <a:pt x="2704167" y="3082726"/>
                    <a:pt x="2635588" y="3082726"/>
                  </a:cubicBezTo>
                  <a:close/>
                </a:path>
              </a:pathLst>
            </a:custGeom>
            <a:solidFill>
              <a:srgbClr val="484995">
                <a:alpha val="4392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6222" y="2878143"/>
            <a:ext cx="7207482" cy="7408857"/>
            <a:chOff x="0" y="0"/>
            <a:chExt cx="2766886" cy="2844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66886" cy="2844192"/>
            </a:xfrm>
            <a:custGeom>
              <a:avLst/>
              <a:gdLst/>
              <a:ahLst/>
              <a:cxnLst/>
              <a:rect r="r" b="b" t="t" l="l"/>
              <a:pathLst>
                <a:path h="2844192" w="2766886">
                  <a:moveTo>
                    <a:pt x="2642426" y="2844192"/>
                  </a:moveTo>
                  <a:lnTo>
                    <a:pt x="124460" y="2844192"/>
                  </a:lnTo>
                  <a:cubicBezTo>
                    <a:pt x="55880" y="2844192"/>
                    <a:pt x="0" y="2788312"/>
                    <a:pt x="0" y="27197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42426" y="0"/>
                  </a:lnTo>
                  <a:cubicBezTo>
                    <a:pt x="2711006" y="0"/>
                    <a:pt x="2766886" y="55880"/>
                    <a:pt x="2766886" y="124460"/>
                  </a:cubicBezTo>
                  <a:lnTo>
                    <a:pt x="2766886" y="2719732"/>
                  </a:lnTo>
                  <a:cubicBezTo>
                    <a:pt x="2766886" y="2788312"/>
                    <a:pt x="2711006" y="2844192"/>
                    <a:pt x="2642426" y="2844192"/>
                  </a:cubicBezTo>
                  <a:close/>
                </a:path>
              </a:pathLst>
            </a:custGeom>
            <a:solidFill>
              <a:srgbClr val="484995">
                <a:alpha val="6588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4036" y="3493382"/>
            <a:ext cx="7189669" cy="7526240"/>
            <a:chOff x="0" y="0"/>
            <a:chExt cx="2760047" cy="28892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0048" cy="2889254"/>
            </a:xfrm>
            <a:custGeom>
              <a:avLst/>
              <a:gdLst/>
              <a:ahLst/>
              <a:cxnLst/>
              <a:rect r="r" b="b" t="t" l="l"/>
              <a:pathLst>
                <a:path h="2889254" w="2760048">
                  <a:moveTo>
                    <a:pt x="2635587" y="2889254"/>
                  </a:moveTo>
                  <a:lnTo>
                    <a:pt x="124460" y="2889254"/>
                  </a:lnTo>
                  <a:cubicBezTo>
                    <a:pt x="55880" y="2889254"/>
                    <a:pt x="0" y="2833374"/>
                    <a:pt x="0" y="276479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35588" y="0"/>
                  </a:lnTo>
                  <a:cubicBezTo>
                    <a:pt x="2704167" y="0"/>
                    <a:pt x="2760048" y="55880"/>
                    <a:pt x="2760048" y="124460"/>
                  </a:cubicBezTo>
                  <a:lnTo>
                    <a:pt x="2760048" y="2764794"/>
                  </a:lnTo>
                  <a:cubicBezTo>
                    <a:pt x="2760048" y="2833374"/>
                    <a:pt x="2704167" y="2889254"/>
                    <a:pt x="2635588" y="2889254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70425" y="7263358"/>
            <a:ext cx="558147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SWQuery SDK: a unified way to query Solana on-chain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0425" y="5695246"/>
            <a:ext cx="5316891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58430" y="7218978"/>
            <a:ext cx="7975240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Designed for analytics, compliance, and dApp developers.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958430" y="4902362"/>
            <a:ext cx="7680398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Built on Helius RPC with high-level, human-readable abstractions.</a:t>
            </a:r>
          </a:p>
        </p:txBody>
      </p:sp>
      <p:sp>
        <p:nvSpPr>
          <p:cNvPr name="AutoShape 13" id="13"/>
          <p:cNvSpPr/>
          <p:nvPr/>
        </p:nvSpPr>
        <p:spPr>
          <a:xfrm rot="-10800000">
            <a:off x="9958430" y="9239250"/>
            <a:ext cx="8329570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 flipH="true">
            <a:off x="9958430" y="6647478"/>
            <a:ext cx="8329570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 rot="-10800000">
            <a:off x="9958430" y="4323740"/>
            <a:ext cx="8329570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08718" y="1234424"/>
            <a:ext cx="12660949" cy="8023876"/>
          </a:xfrm>
          <a:custGeom>
            <a:avLst/>
            <a:gdLst/>
            <a:ahLst/>
            <a:cxnLst/>
            <a:rect r="r" b="b" t="t" l="l"/>
            <a:pathLst>
              <a:path h="8023876" w="12660949">
                <a:moveTo>
                  <a:pt x="0" y="0"/>
                </a:moveTo>
                <a:lnTo>
                  <a:pt x="12660948" y="0"/>
                </a:lnTo>
                <a:lnTo>
                  <a:pt x="12660948" y="8023876"/>
                </a:lnTo>
                <a:lnTo>
                  <a:pt x="0" y="8023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13558"/>
            <a:ext cx="4796217" cy="184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How We Solve 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40" t="-10467" r="-7564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62" y="0"/>
            <a:ext cx="6940072" cy="10287000"/>
            <a:chOff x="0" y="0"/>
            <a:chExt cx="2347629" cy="3479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7629" cy="3479800"/>
            </a:xfrm>
            <a:custGeom>
              <a:avLst/>
              <a:gdLst/>
              <a:ahLst/>
              <a:cxnLst/>
              <a:rect r="r" b="b" t="t" l="l"/>
              <a:pathLst>
                <a:path h="3479800" w="2347629">
                  <a:moveTo>
                    <a:pt x="0" y="0"/>
                  </a:moveTo>
                  <a:lnTo>
                    <a:pt x="2347629" y="0"/>
                  </a:lnTo>
                  <a:lnTo>
                    <a:pt x="234762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17183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11451" y="2517122"/>
            <a:ext cx="7105515" cy="5252757"/>
            <a:chOff x="0" y="0"/>
            <a:chExt cx="2160783" cy="159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0783" cy="1597361"/>
            </a:xfrm>
            <a:custGeom>
              <a:avLst/>
              <a:gdLst/>
              <a:ahLst/>
              <a:cxnLst/>
              <a:rect r="r" b="b" t="t" l="l"/>
              <a:pathLst>
                <a:path h="1597361" w="2160783">
                  <a:moveTo>
                    <a:pt x="2036323" y="1597360"/>
                  </a:moveTo>
                  <a:lnTo>
                    <a:pt x="124460" y="1597360"/>
                  </a:lnTo>
                  <a:cubicBezTo>
                    <a:pt x="55880" y="1597360"/>
                    <a:pt x="0" y="1541480"/>
                    <a:pt x="0" y="14729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36323" y="0"/>
                  </a:lnTo>
                  <a:cubicBezTo>
                    <a:pt x="2104903" y="0"/>
                    <a:pt x="2160783" y="55880"/>
                    <a:pt x="2160783" y="124460"/>
                  </a:cubicBezTo>
                  <a:lnTo>
                    <a:pt x="2160783" y="1472901"/>
                  </a:lnTo>
                  <a:cubicBezTo>
                    <a:pt x="2160783" y="1541480"/>
                    <a:pt x="2104903" y="1597361"/>
                    <a:pt x="2036323" y="1597361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12511" y="4685347"/>
            <a:ext cx="320324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10408" y="3602283"/>
            <a:ext cx="5907602" cy="332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Transaction Retrieval Analysis</a:t>
            </a: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Account and Asset information</a:t>
            </a: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Market Insights(trending tokens)</a:t>
            </a: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Subscription based updates</a:t>
            </a: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Rug Check</a:t>
            </a: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Prompt to Swap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20740" t="-10467" r="-7564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62" y="0"/>
            <a:ext cx="6940072" cy="10287000"/>
            <a:chOff x="0" y="0"/>
            <a:chExt cx="2347629" cy="3479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7629" cy="3479800"/>
            </a:xfrm>
            <a:custGeom>
              <a:avLst/>
              <a:gdLst/>
              <a:ahLst/>
              <a:cxnLst/>
              <a:rect r="r" b="b" t="t" l="l"/>
              <a:pathLst>
                <a:path h="3479800" w="2347629">
                  <a:moveTo>
                    <a:pt x="0" y="0"/>
                  </a:moveTo>
                  <a:lnTo>
                    <a:pt x="2347629" y="0"/>
                  </a:lnTo>
                  <a:lnTo>
                    <a:pt x="2347629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17183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411451" y="2517122"/>
            <a:ext cx="7105515" cy="5252757"/>
            <a:chOff x="0" y="0"/>
            <a:chExt cx="2160783" cy="1597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0783" cy="1597361"/>
            </a:xfrm>
            <a:custGeom>
              <a:avLst/>
              <a:gdLst/>
              <a:ahLst/>
              <a:cxnLst/>
              <a:rect r="r" b="b" t="t" l="l"/>
              <a:pathLst>
                <a:path h="1597361" w="2160783">
                  <a:moveTo>
                    <a:pt x="2036323" y="1597360"/>
                  </a:moveTo>
                  <a:lnTo>
                    <a:pt x="124460" y="1597360"/>
                  </a:lnTo>
                  <a:cubicBezTo>
                    <a:pt x="55880" y="1597360"/>
                    <a:pt x="0" y="1541480"/>
                    <a:pt x="0" y="147290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036323" y="0"/>
                  </a:lnTo>
                  <a:cubicBezTo>
                    <a:pt x="2104903" y="0"/>
                    <a:pt x="2160783" y="55880"/>
                    <a:pt x="2160783" y="124460"/>
                  </a:cubicBezTo>
                  <a:lnTo>
                    <a:pt x="2160783" y="1472901"/>
                  </a:lnTo>
                  <a:cubicBezTo>
                    <a:pt x="2160783" y="1541480"/>
                    <a:pt x="2104903" y="1597361"/>
                    <a:pt x="2036323" y="1597361"/>
                  </a:cubicBezTo>
                  <a:close/>
                </a:path>
              </a:pathLst>
            </a:custGeom>
            <a:solidFill>
              <a:srgbClr val="48499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212511" y="4685347"/>
            <a:ext cx="428909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Target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1823" y="3951226"/>
            <a:ext cx="5644712" cy="237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Developers building analytics or Solana-integrated apps.</a:t>
            </a:r>
          </a:p>
          <a:p>
            <a:pPr algn="l">
              <a:lnSpc>
                <a:spcPts val="3779"/>
              </a:lnSpc>
            </a:pPr>
          </a:p>
          <a:p>
            <a:pPr algn="l" marL="668822" indent="-334411" lvl="1">
              <a:lnSpc>
                <a:spcPts val="3779"/>
              </a:lnSpc>
              <a:buFont typeface="Arial"/>
              <a:buChar char="•"/>
            </a:pPr>
            <a:r>
              <a:rPr lang="en-US" sz="309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RPC Providers and Block Explorers.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44331" t="-22481" r="-734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4370627" y="5738813"/>
            <a:ext cx="9546747" cy="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153525" y="1856492"/>
            <a:ext cx="0" cy="8003980"/>
          </a:xfrm>
          <a:prstGeom prst="line">
            <a:avLst/>
          </a:prstGeom>
          <a:ln cap="flat" w="19050">
            <a:solidFill>
              <a:srgbClr val="9695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919745" y="5057159"/>
            <a:ext cx="2726782" cy="473778"/>
          </a:xfrm>
          <a:custGeom>
            <a:avLst/>
            <a:gdLst/>
            <a:ahLst/>
            <a:cxnLst/>
            <a:rect r="r" b="b" t="t" l="l"/>
            <a:pathLst>
              <a:path h="473778" w="2726782">
                <a:moveTo>
                  <a:pt x="0" y="0"/>
                </a:moveTo>
                <a:lnTo>
                  <a:pt x="2726782" y="0"/>
                </a:lnTo>
                <a:lnTo>
                  <a:pt x="2726782" y="473778"/>
                </a:lnTo>
                <a:lnTo>
                  <a:pt x="0" y="473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991671" y="5593080"/>
            <a:ext cx="291465" cy="2914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86906" y="2037282"/>
            <a:ext cx="863496" cy="863496"/>
          </a:xfrm>
          <a:custGeom>
            <a:avLst/>
            <a:gdLst/>
            <a:ahLst/>
            <a:cxnLst/>
            <a:rect r="r" b="b" t="t" l="l"/>
            <a:pathLst>
              <a:path h="863496" w="863496">
                <a:moveTo>
                  <a:pt x="0" y="0"/>
                </a:moveTo>
                <a:lnTo>
                  <a:pt x="863496" y="0"/>
                </a:lnTo>
                <a:lnTo>
                  <a:pt x="863496" y="863495"/>
                </a:lnTo>
                <a:lnTo>
                  <a:pt x="0" y="86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72921" y="2900777"/>
            <a:ext cx="291465" cy="2914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54253" y="3046510"/>
            <a:ext cx="783884" cy="783884"/>
          </a:xfrm>
          <a:custGeom>
            <a:avLst/>
            <a:gdLst/>
            <a:ahLst/>
            <a:cxnLst/>
            <a:rect r="r" b="b" t="t" l="l"/>
            <a:pathLst>
              <a:path h="783884" w="783884">
                <a:moveTo>
                  <a:pt x="0" y="0"/>
                </a:moveTo>
                <a:lnTo>
                  <a:pt x="783884" y="0"/>
                </a:lnTo>
                <a:lnTo>
                  <a:pt x="783884" y="783884"/>
                </a:lnTo>
                <a:lnTo>
                  <a:pt x="0" y="783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147382" y="3684661"/>
            <a:ext cx="291465" cy="2914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370627" y="7737845"/>
            <a:ext cx="812061" cy="812061"/>
          </a:xfrm>
          <a:custGeom>
            <a:avLst/>
            <a:gdLst/>
            <a:ahLst/>
            <a:cxnLst/>
            <a:rect r="r" b="b" t="t" l="l"/>
            <a:pathLst>
              <a:path h="812061" w="812061">
                <a:moveTo>
                  <a:pt x="0" y="0"/>
                </a:moveTo>
                <a:lnTo>
                  <a:pt x="812060" y="0"/>
                </a:lnTo>
                <a:lnTo>
                  <a:pt x="812060" y="812060"/>
                </a:lnTo>
                <a:lnTo>
                  <a:pt x="0" y="8120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158937" y="7998142"/>
            <a:ext cx="291465" cy="29146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589005" y="8769289"/>
            <a:ext cx="857781" cy="857781"/>
          </a:xfrm>
          <a:custGeom>
            <a:avLst/>
            <a:gdLst/>
            <a:ahLst/>
            <a:cxnLst/>
            <a:rect r="r" b="b" t="t" l="l"/>
            <a:pathLst>
              <a:path h="857781" w="857781">
                <a:moveTo>
                  <a:pt x="0" y="0"/>
                </a:moveTo>
                <a:lnTo>
                  <a:pt x="857780" y="0"/>
                </a:lnTo>
                <a:lnTo>
                  <a:pt x="857780" y="857781"/>
                </a:lnTo>
                <a:lnTo>
                  <a:pt x="0" y="8577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872163" y="8549905"/>
            <a:ext cx="291465" cy="29146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441230" y="2334343"/>
            <a:ext cx="857899" cy="857899"/>
          </a:xfrm>
          <a:custGeom>
            <a:avLst/>
            <a:gdLst/>
            <a:ahLst/>
            <a:cxnLst/>
            <a:rect r="r" b="b" t="t" l="l"/>
            <a:pathLst>
              <a:path h="857899" w="857899">
                <a:moveTo>
                  <a:pt x="0" y="0"/>
                </a:moveTo>
                <a:lnTo>
                  <a:pt x="857900" y="0"/>
                </a:lnTo>
                <a:lnTo>
                  <a:pt x="857900" y="857899"/>
                </a:lnTo>
                <a:lnTo>
                  <a:pt x="0" y="8578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724448" y="3146987"/>
            <a:ext cx="291465" cy="2914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222435" y="4137129"/>
            <a:ext cx="1006371" cy="1006371"/>
          </a:xfrm>
          <a:custGeom>
            <a:avLst/>
            <a:gdLst/>
            <a:ahLst/>
            <a:cxnLst/>
            <a:rect r="r" b="b" t="t" l="l"/>
            <a:pathLst>
              <a:path h="1006371" w="1006371">
                <a:moveTo>
                  <a:pt x="0" y="0"/>
                </a:moveTo>
                <a:lnTo>
                  <a:pt x="1006370" y="0"/>
                </a:lnTo>
                <a:lnTo>
                  <a:pt x="1006370" y="1006371"/>
                </a:lnTo>
                <a:lnTo>
                  <a:pt x="0" y="10063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870180" y="4494582"/>
            <a:ext cx="291465" cy="29146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352707" y="7623545"/>
            <a:ext cx="926361" cy="926361"/>
          </a:xfrm>
          <a:custGeom>
            <a:avLst/>
            <a:gdLst/>
            <a:ahLst/>
            <a:cxnLst/>
            <a:rect r="r" b="b" t="t" l="l"/>
            <a:pathLst>
              <a:path h="926361" w="926361">
                <a:moveTo>
                  <a:pt x="0" y="0"/>
                </a:moveTo>
                <a:lnTo>
                  <a:pt x="926361" y="0"/>
                </a:lnTo>
                <a:lnTo>
                  <a:pt x="926361" y="926360"/>
                </a:lnTo>
                <a:lnTo>
                  <a:pt x="0" y="926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51945" y="1613565"/>
            <a:ext cx="3118682" cy="47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Abstraction Layer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8778036"/>
            <a:ext cx="3118682" cy="95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Research Analyst Agent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228805" y="1846967"/>
            <a:ext cx="3118682" cy="47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Infrastructure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44095" y="9384143"/>
            <a:ext cx="3118682" cy="47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97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Defi Optimization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149765" y="7446380"/>
            <a:ext cx="291465" cy="2914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95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5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446785" y="479107"/>
            <a:ext cx="5477817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Why SWQuery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24544" t="-10794" r="-7242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28672" y="702945"/>
            <a:ext cx="6030657" cy="98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66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Business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448462" y="4958009"/>
            <a:ext cx="9391077" cy="3042991"/>
            <a:chOff x="0" y="0"/>
            <a:chExt cx="4628532" cy="14997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28533" cy="1499784"/>
            </a:xfrm>
            <a:custGeom>
              <a:avLst/>
              <a:gdLst/>
              <a:ahLst/>
              <a:cxnLst/>
              <a:rect r="r" b="b" t="t" l="l"/>
              <a:pathLst>
                <a:path h="1499784" w="4628533">
                  <a:moveTo>
                    <a:pt x="4504072" y="1499783"/>
                  </a:moveTo>
                  <a:lnTo>
                    <a:pt x="124460" y="1499783"/>
                  </a:lnTo>
                  <a:cubicBezTo>
                    <a:pt x="55880" y="1499783"/>
                    <a:pt x="0" y="1443904"/>
                    <a:pt x="0" y="13753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504073" y="0"/>
                  </a:lnTo>
                  <a:cubicBezTo>
                    <a:pt x="4572653" y="0"/>
                    <a:pt x="4628533" y="55880"/>
                    <a:pt x="4628533" y="124460"/>
                  </a:cubicBezTo>
                  <a:lnTo>
                    <a:pt x="4628533" y="1375324"/>
                  </a:lnTo>
                  <a:cubicBezTo>
                    <a:pt x="4628533" y="1443904"/>
                    <a:pt x="4572653" y="1499784"/>
                    <a:pt x="4504073" y="1499784"/>
                  </a:cubicBezTo>
                  <a:close/>
                </a:path>
              </a:pathLst>
            </a:custGeom>
            <a:solidFill>
              <a:srgbClr val="34357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951752" y="2784094"/>
            <a:ext cx="2384496" cy="59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2"/>
              </a:lnSpc>
            </a:pPr>
            <a:r>
              <a:rPr lang="en-US" sz="41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Freemium</a:t>
            </a:r>
          </a:p>
        </p:txBody>
      </p:sp>
      <p:sp>
        <p:nvSpPr>
          <p:cNvPr name="AutoShape 7" id="7"/>
          <p:cNvSpPr/>
          <p:nvPr/>
        </p:nvSpPr>
        <p:spPr>
          <a:xfrm>
            <a:off x="4540575" y="4333127"/>
            <a:ext cx="9298963" cy="0"/>
          </a:xfrm>
          <a:prstGeom prst="line">
            <a:avLst/>
          </a:prstGeom>
          <a:ln cap="flat" w="9525">
            <a:solidFill>
              <a:srgbClr val="9695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-2062" y="0"/>
            <a:ext cx="450526" cy="10287000"/>
            <a:chOff x="0" y="0"/>
            <a:chExt cx="152400" cy="3479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" cy="3479800"/>
            </a:xfrm>
            <a:custGeom>
              <a:avLst/>
              <a:gdLst/>
              <a:ahLst/>
              <a:cxnLst/>
              <a:rect r="r" b="b" t="t" l="l"/>
              <a:pathLst>
                <a:path h="34798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17183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29900" y="5316629"/>
            <a:ext cx="9003975" cy="233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94" indent="-442597" lvl="1">
              <a:lnSpc>
                <a:spcPts val="4592"/>
              </a:lnSpc>
              <a:buFont typeface="Arial"/>
              <a:buChar char="•"/>
            </a:pPr>
            <a:r>
              <a:rPr lang="en-US" b="true" sz="4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 free requests</a:t>
            </a:r>
          </a:p>
          <a:p>
            <a:pPr algn="l" marL="885194" indent="-442597" lvl="1">
              <a:lnSpc>
                <a:spcPts val="4592"/>
              </a:lnSpc>
              <a:buFont typeface="Arial"/>
              <a:buChar char="•"/>
            </a:pPr>
            <a:r>
              <a:rPr lang="en-US" b="true" sz="4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Starter: $10 USDC → 20 requests</a:t>
            </a:r>
          </a:p>
          <a:p>
            <a:pPr algn="l" marL="885194" indent="-442597" lvl="1">
              <a:lnSpc>
                <a:spcPts val="4592"/>
              </a:lnSpc>
              <a:buFont typeface="Arial"/>
              <a:buChar char="•"/>
            </a:pPr>
            <a:r>
              <a:rPr lang="en-US" b="true" sz="4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Basic: $30 USDC → 50 requests</a:t>
            </a:r>
          </a:p>
          <a:p>
            <a:pPr algn="l" marL="885194" indent="-442597" lvl="1">
              <a:lnSpc>
                <a:spcPts val="4592"/>
              </a:lnSpc>
              <a:buFont typeface="Arial"/>
              <a:buChar char="•"/>
            </a:pPr>
            <a:r>
              <a:rPr lang="en-US" b="true" sz="41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Pro: $50 USDC → 80 requests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2" t="-121705" r="-22260" b="-10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02368" y="1919865"/>
            <a:ext cx="3190787" cy="3626817"/>
            <a:chOff x="0" y="0"/>
            <a:chExt cx="1688347" cy="19190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8348" cy="1919065"/>
            </a:xfrm>
            <a:custGeom>
              <a:avLst/>
              <a:gdLst/>
              <a:ahLst/>
              <a:cxnLst/>
              <a:rect r="r" b="b" t="t" l="l"/>
              <a:pathLst>
                <a:path h="1919065" w="1688348">
                  <a:moveTo>
                    <a:pt x="1563887" y="1919065"/>
                  </a:moveTo>
                  <a:lnTo>
                    <a:pt x="124460" y="1919065"/>
                  </a:lnTo>
                  <a:cubicBezTo>
                    <a:pt x="55880" y="1919065"/>
                    <a:pt x="0" y="1863185"/>
                    <a:pt x="0" y="17946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887" y="0"/>
                  </a:lnTo>
                  <a:cubicBezTo>
                    <a:pt x="1632467" y="0"/>
                    <a:pt x="1688348" y="55880"/>
                    <a:pt x="1688348" y="124460"/>
                  </a:cubicBezTo>
                  <a:lnTo>
                    <a:pt x="1688348" y="1794605"/>
                  </a:lnTo>
                  <a:cubicBezTo>
                    <a:pt x="1688348" y="1863185"/>
                    <a:pt x="1632467" y="1919065"/>
                    <a:pt x="1563887" y="1919065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578798" y="2741052"/>
            <a:ext cx="2037927" cy="2037919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98099" y="1919865"/>
            <a:ext cx="3190787" cy="3626817"/>
            <a:chOff x="0" y="0"/>
            <a:chExt cx="1688347" cy="19190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8348" cy="1919065"/>
            </a:xfrm>
            <a:custGeom>
              <a:avLst/>
              <a:gdLst/>
              <a:ahLst/>
              <a:cxnLst/>
              <a:rect r="r" b="b" t="t" l="l"/>
              <a:pathLst>
                <a:path h="1919065" w="1688348">
                  <a:moveTo>
                    <a:pt x="1563887" y="1919065"/>
                  </a:moveTo>
                  <a:lnTo>
                    <a:pt x="124460" y="1919065"/>
                  </a:lnTo>
                  <a:cubicBezTo>
                    <a:pt x="55880" y="1919065"/>
                    <a:pt x="0" y="1863185"/>
                    <a:pt x="0" y="17946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887" y="0"/>
                  </a:lnTo>
                  <a:cubicBezTo>
                    <a:pt x="1632467" y="0"/>
                    <a:pt x="1688348" y="55880"/>
                    <a:pt x="1688348" y="124460"/>
                  </a:cubicBezTo>
                  <a:lnTo>
                    <a:pt x="1688348" y="1794605"/>
                  </a:lnTo>
                  <a:cubicBezTo>
                    <a:pt x="1688348" y="1863185"/>
                    <a:pt x="1632467" y="1919065"/>
                    <a:pt x="1563887" y="1919065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874529" y="2741052"/>
            <a:ext cx="2037927" cy="2037919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593830" y="1919865"/>
            <a:ext cx="3190787" cy="3626817"/>
            <a:chOff x="0" y="0"/>
            <a:chExt cx="1688347" cy="19190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88348" cy="1919065"/>
            </a:xfrm>
            <a:custGeom>
              <a:avLst/>
              <a:gdLst/>
              <a:ahLst/>
              <a:cxnLst/>
              <a:rect r="r" b="b" t="t" l="l"/>
              <a:pathLst>
                <a:path h="1919065" w="1688348">
                  <a:moveTo>
                    <a:pt x="1563887" y="1919065"/>
                  </a:moveTo>
                  <a:lnTo>
                    <a:pt x="124460" y="1919065"/>
                  </a:lnTo>
                  <a:cubicBezTo>
                    <a:pt x="55880" y="1919065"/>
                    <a:pt x="0" y="1863185"/>
                    <a:pt x="0" y="179460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887" y="0"/>
                  </a:lnTo>
                  <a:cubicBezTo>
                    <a:pt x="1632467" y="0"/>
                    <a:pt x="1688348" y="55880"/>
                    <a:pt x="1688348" y="124460"/>
                  </a:cubicBezTo>
                  <a:lnTo>
                    <a:pt x="1688348" y="1794605"/>
                  </a:lnTo>
                  <a:cubicBezTo>
                    <a:pt x="1688348" y="1863185"/>
                    <a:pt x="1632467" y="1919065"/>
                    <a:pt x="1563887" y="1919065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0260" y="2741052"/>
            <a:ext cx="2037927" cy="2037919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84872" y="6144852"/>
            <a:ext cx="3190787" cy="3661107"/>
            <a:chOff x="0" y="0"/>
            <a:chExt cx="1688347" cy="19372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8348" cy="1937209"/>
            </a:xfrm>
            <a:custGeom>
              <a:avLst/>
              <a:gdLst/>
              <a:ahLst/>
              <a:cxnLst/>
              <a:rect r="r" b="b" t="t" l="l"/>
              <a:pathLst>
                <a:path h="1937209" w="1688348">
                  <a:moveTo>
                    <a:pt x="1563887" y="1937209"/>
                  </a:moveTo>
                  <a:lnTo>
                    <a:pt x="124460" y="1937209"/>
                  </a:lnTo>
                  <a:cubicBezTo>
                    <a:pt x="55880" y="1937209"/>
                    <a:pt x="0" y="1881329"/>
                    <a:pt x="0" y="1812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887" y="0"/>
                  </a:lnTo>
                  <a:cubicBezTo>
                    <a:pt x="1632467" y="0"/>
                    <a:pt x="1688348" y="55880"/>
                    <a:pt x="1688348" y="124460"/>
                  </a:cubicBezTo>
                  <a:lnTo>
                    <a:pt x="1688348" y="1812749"/>
                  </a:lnTo>
                  <a:cubicBezTo>
                    <a:pt x="1688348" y="1881329"/>
                    <a:pt x="1632467" y="1937209"/>
                    <a:pt x="1563887" y="1937209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61302" y="6966039"/>
            <a:ext cx="2037927" cy="2037919"/>
            <a:chOff x="0" y="0"/>
            <a:chExt cx="6350000" cy="63499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5466" t="0" r="-1546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0" y="6144852"/>
            <a:ext cx="3190787" cy="3661107"/>
            <a:chOff x="0" y="0"/>
            <a:chExt cx="1688347" cy="19372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88348" cy="1937209"/>
            </a:xfrm>
            <a:custGeom>
              <a:avLst/>
              <a:gdLst/>
              <a:ahLst/>
              <a:cxnLst/>
              <a:rect r="r" b="b" t="t" l="l"/>
              <a:pathLst>
                <a:path h="1937209" w="1688348">
                  <a:moveTo>
                    <a:pt x="1563887" y="1937209"/>
                  </a:moveTo>
                  <a:lnTo>
                    <a:pt x="124460" y="1937209"/>
                  </a:lnTo>
                  <a:cubicBezTo>
                    <a:pt x="55880" y="1937209"/>
                    <a:pt x="0" y="1881329"/>
                    <a:pt x="0" y="18127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63887" y="0"/>
                  </a:lnTo>
                  <a:cubicBezTo>
                    <a:pt x="1632467" y="0"/>
                    <a:pt x="1688348" y="55880"/>
                    <a:pt x="1688348" y="124460"/>
                  </a:cubicBezTo>
                  <a:lnTo>
                    <a:pt x="1688348" y="1812749"/>
                  </a:lnTo>
                  <a:cubicBezTo>
                    <a:pt x="1688348" y="1881329"/>
                    <a:pt x="1632467" y="1937209"/>
                    <a:pt x="1563887" y="1937209"/>
                  </a:cubicBezTo>
                  <a:close/>
                </a:path>
              </a:pathLst>
            </a:custGeom>
            <a:solidFill>
              <a:srgbClr val="1F2044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20430" y="6966039"/>
            <a:ext cx="2037927" cy="2037919"/>
            <a:chOff x="0" y="0"/>
            <a:chExt cx="6350000" cy="63499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43000" y="758825"/>
            <a:ext cx="4241872" cy="98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66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Our team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51425" y="2222513"/>
            <a:ext cx="2492673" cy="2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b="true" sz="186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VICTOR CARVALHO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47156" y="2222513"/>
            <a:ext cx="2492673" cy="2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b="true" sz="186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ARTHUR BRETAS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2887" y="2222513"/>
            <a:ext cx="2492673" cy="2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b="true" sz="186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PEDRO HAGGE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33928" y="6447501"/>
            <a:ext cx="2492673" cy="2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b="true" sz="186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MARCELO FEITOZA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93057" y="6447501"/>
            <a:ext cx="2492673" cy="28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b="true" sz="1862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MATHEUS MACEDO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2" t="-121705" r="-22260" b="-10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59394" y="4701731"/>
            <a:ext cx="3569213" cy="86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56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DAG4nA86VS4</dc:identifier>
  <dcterms:modified xsi:type="dcterms:W3CDTF">2011-08-01T06:04:30Z</dcterms:modified>
  <cp:revision>1</cp:revision>
  <dc:title>SWquery Pitch Deck</dc:title>
</cp:coreProperties>
</file>